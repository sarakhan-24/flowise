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C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Arial"/>
              </a:rPr>
              <a:t>FLOWISE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BCD4"/>
                </a:solidFill>
                <a:latin typeface="Arial"/>
              </a:rPr>
              <a:t>Real-Time IoT &amp; Machine Learning Water Leak Detection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Technical Funding Proposal for Physical Pipeline Test-Bed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Arial"/>
              </a:rPr>
              <a:t>Project Team:</a:t>
            </a:r>
          </a:p>
          <a:p>
            <a:pPr algn="l">
              <a:spcAft>
                <a:spcPts val="15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Sara Khan (NUML-F22-31354)  |  Batool Tariq (NUML-F22-16916)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Arial"/>
              </a:rPr>
              <a:t>Supervised by:</a:t>
            </a:r>
          </a:p>
          <a:p>
            <a:pPr algn="l">
              <a:spcAft>
                <a:spcPts val="20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Ms. Qurat-ul-Ain Raja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757575"/>
                </a:solidFill>
                <a:latin typeface="Arial"/>
              </a:rPr>
              <a:t>Department of Computer Science  |  Faculty of Engineering &amp; CS</a:t>
            </a:r>
          </a:p>
          <a:p>
            <a:pPr algn="l"/>
            <a:r>
              <a:rPr sz="1100" b="0">
                <a:solidFill>
                  <a:srgbClr val="757575"/>
                </a:solidFill>
                <a:latin typeface="Arial"/>
              </a:rPr>
              <a:t>National University of Modern Languages (NUML), Islamabad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BCD4"/>
                </a:solidFill>
                <a:latin typeface="Arial"/>
              </a:rPr>
              <a:t>PROJECT FLOWISE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Arial"/>
              </a:rPr>
              <a:t>The Water Scarcity &amp; Infrastructure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411480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57575"/>
                </a:solidFill>
                <a:latin typeface="Arial"/>
              </a:rPr>
              <a:t>NATIONAL EMERGENCY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>
                <a:solidFill>
                  <a:srgbClr val="D32F2F"/>
                </a:solidFill>
                <a:latin typeface="Arial"/>
              </a:rPr>
              <a:t>30% - 40%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8328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C59"/>
                </a:solidFill>
                <a:latin typeface="Arial"/>
              </a:rPr>
              <a:t>Of municipal water is lost as Non-Revenue Water (NRW)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297680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212121"/>
                </a:solidFill>
                <a:latin typeface="Arial"/>
              </a:rPr>
              <a:t>Pakistan is approaching absolute water scarcity.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Arial"/>
              </a:rPr>
              <a:t>Pipes waste millions of gallons daily due to delayed, manual, and reactive leak reporting.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463040"/>
            <a:ext cx="6339535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1737360"/>
            <a:ext cx="5577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0F2C59"/>
                </a:solidFill>
                <a:latin typeface="Arial"/>
              </a:rPr>
              <a:t>Traditional Detection Drawbacks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Arial"/>
              </a:rPr>
              <a:t>• Manual Inspection: Slow, labor-intensive, and highly error-prone.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Arial"/>
              </a:rPr>
              <a:t>• Delayed Reporting: Leaks detected only after visible surface flooding.</a:t>
            </a:r>
          </a:p>
          <a:p>
            <a:pPr algn="l">
              <a:spcAft>
                <a:spcPts val="1800"/>
              </a:spcAft>
            </a:pPr>
            <a:r>
              <a:rPr sz="1300" b="0">
                <a:solidFill>
                  <a:srgbClr val="212121"/>
                </a:solidFill>
                <a:latin typeface="Arial"/>
              </a:rPr>
              <a:t>• Water Contamination: Low-pressure pipe cracks draw in sewage contaminants.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BCD4"/>
                </a:solidFill>
                <a:latin typeface="Arial"/>
              </a:rPr>
              <a:t>The Flowise Automation Advantage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Arial"/>
              </a:rPr>
              <a:t>• Automated &amp; Continuous: 24/7 edge-to-cloud monitoring.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Arial"/>
              </a:rPr>
              <a:t>• High-Latency Warnings: Triggers alerts to managers in under 10 seconds.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Arial"/>
              </a:rPr>
              <a:t>• Preventative Insights: Detects minor pressure drops before major pipe bursts.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BCD4"/>
                </a:solidFill>
                <a:latin typeface="Arial"/>
              </a:rPr>
              <a:t>PROJECT FLOWISE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Arial"/>
              </a:rPr>
              <a:t>Core Technical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29184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291840" cy="10972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BCD4"/>
                </a:solidFill>
                <a:latin typeface="Arial"/>
              </a:rPr>
              <a:t>TO DESIGN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0F2C59"/>
                </a:solidFill>
                <a:latin typeface="Arial"/>
              </a:rPr>
              <a:t>IoT Edge Telemetry Node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Arial"/>
              </a:rPr>
              <a:t>Assemble high-frequency sensor acquisition modules on the controller to capture flow rate and pipeline pressure data at regular intervals.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645920"/>
            <a:ext cx="329184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645920"/>
            <a:ext cx="3291840" cy="109728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F2C59"/>
                </a:solidFill>
                <a:latin typeface="Arial"/>
              </a:rPr>
              <a:t>TO DEVELOP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12121"/>
                </a:solidFill>
                <a:latin typeface="Arial"/>
              </a:rPr>
              <a:t>Real-Time Data Pipeline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Arial"/>
              </a:rPr>
              <a:t>Construct an data transmission model linking the sensing node to a centralized cloud database.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645920"/>
            <a:ext cx="329184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645920"/>
            <a:ext cx="3291840" cy="10972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8288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BCD4"/>
                </a:solidFill>
                <a:latin typeface="Arial"/>
              </a:rPr>
              <a:t>TO TRAIN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0F2C59"/>
                </a:solidFill>
                <a:latin typeface="Arial"/>
              </a:rPr>
              <a:t>Machine Learning Model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Arial"/>
              </a:rPr>
              <a:t>Train a high-recall Machine Learning model using custom rolling-window feature engineering to isolate leak events from transient noise.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63040" y="4023360"/>
            <a:ext cx="329184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63040" y="4023360"/>
            <a:ext cx="3291840" cy="109728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42062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F2C59"/>
                </a:solidFill>
                <a:latin typeface="Arial"/>
              </a:rPr>
              <a:t>TO DEPLOY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12121"/>
                </a:solidFill>
                <a:latin typeface="Arial"/>
              </a:rPr>
              <a:t>Mobile App &amp; Cloud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Arial"/>
              </a:rPr>
              <a:t>Deploy the model on a cloud server and create a cross-platform mobile application with live charts and instant notifications.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4023360"/>
            <a:ext cx="329184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0640" y="4023360"/>
            <a:ext cx="3291840" cy="10972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42062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BCD4"/>
                </a:solidFill>
                <a:latin typeface="Arial"/>
              </a:rPr>
              <a:t>TO VALIDATE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0F2C59"/>
                </a:solidFill>
                <a:latin typeface="Arial"/>
              </a:rPr>
              <a:t>Physical Test-Bed Validation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Arial"/>
              </a:rPr>
              <a:t>Construct a pressurized PVC pipeline prototype to verify system latency, noise resilience, and prediction accuracy in physical trials.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BCD4"/>
                </a:solidFill>
                <a:latin typeface="Arial"/>
              </a:rPr>
              <a:t>PROJECT FLOWISE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Arial"/>
              </a:rPr>
              <a:t>Flowise End-to-End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37744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377440" cy="45720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BCD4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0116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F2C59"/>
                </a:solidFill>
                <a:latin typeface="Arial"/>
              </a:rPr>
              <a:t>Edge Telemetry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00BCD4"/>
                </a:solidFill>
                <a:latin typeface="Arial"/>
              </a:rPr>
              <a:t>Sensing Node</a:t>
            </a:r>
          </a:p>
          <a:p>
            <a:pPr algn="l">
              <a:spcAft>
                <a:spcPts val="1800"/>
              </a:spcAft>
            </a:pPr>
            <a:r>
              <a:rPr sz="1100" b="0">
                <a:solidFill>
                  <a:srgbClr val="212121"/>
                </a:solidFill>
                <a:latin typeface="Arial"/>
              </a:rPr>
              <a:t>Reads flow rates and pipeline pressure from sensor modules.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757575"/>
                </a:solidFill>
                <a:latin typeface="Arial"/>
              </a:rPr>
              <a:t>Unit: Edge Controller</a:t>
            </a:r>
          </a:p>
          <a:p>
            <a:pPr algn="l"/>
            <a:r>
              <a:rPr sz="1000" b="0">
                <a:solidFill>
                  <a:srgbClr val="757575"/>
                </a:solidFill>
                <a:latin typeface="Arial"/>
              </a:rPr>
              <a:t>Process: Periodic Sampling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34747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BCD4"/>
                </a:solidFill>
                <a:latin typeface="Arial"/>
              </a:rPr>
              <a:t>➔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645920"/>
            <a:ext cx="237744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645920"/>
            <a:ext cx="2377440" cy="45720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737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BCD4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286000"/>
            <a:ext cx="20116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F2C59"/>
                </a:solidFill>
                <a:latin typeface="Arial"/>
              </a:rPr>
              <a:t>Cloud Bridge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00BCD4"/>
                </a:solidFill>
                <a:latin typeface="Arial"/>
              </a:rPr>
              <a:t>Central Database</a:t>
            </a:r>
          </a:p>
          <a:p>
            <a:pPr algn="l">
              <a:spcAft>
                <a:spcPts val="1800"/>
              </a:spcAft>
            </a:pPr>
            <a:r>
              <a:rPr sz="1100" b="0">
                <a:solidFill>
                  <a:srgbClr val="212121"/>
                </a:solidFill>
                <a:latin typeface="Arial"/>
              </a:rPr>
              <a:t>Stores structured, timestamped telemetry data. Serves as active sync hub for cloud &amp; mobile app.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757575"/>
                </a:solidFill>
                <a:latin typeface="Arial"/>
              </a:rPr>
              <a:t>Unit: Cloud Database</a:t>
            </a:r>
          </a:p>
          <a:p>
            <a:pPr algn="l"/>
            <a:r>
              <a:rPr sz="1000" b="0">
                <a:solidFill>
                  <a:srgbClr val="757575"/>
                </a:solidFill>
                <a:latin typeface="Arial"/>
              </a:rPr>
              <a:t>Process: Telemetry Streams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34747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BCD4"/>
                </a:solidFill>
                <a:latin typeface="Arial"/>
              </a:rPr>
              <a:t>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645920"/>
            <a:ext cx="237744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645920"/>
            <a:ext cx="2377440" cy="45720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37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BCD4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286000"/>
            <a:ext cx="20116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F2C59"/>
                </a:solidFill>
                <a:latin typeface="Arial"/>
              </a:rPr>
              <a:t>ML Inference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00BCD4"/>
                </a:solidFill>
                <a:latin typeface="Arial"/>
              </a:rPr>
              <a:t>Cloud Server</a:t>
            </a:r>
          </a:p>
          <a:p>
            <a:pPr algn="l">
              <a:spcAft>
                <a:spcPts val="1800"/>
              </a:spcAft>
            </a:pPr>
            <a:r>
              <a:rPr sz="1100" b="0">
                <a:solidFill>
                  <a:srgbClr val="212121"/>
                </a:solidFill>
                <a:latin typeface="Arial"/>
              </a:rPr>
              <a:t>Cloud background worker runs Machine Learning model. Computes rolling trends and applies temporal voting.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757575"/>
                </a:solidFill>
                <a:latin typeface="Arial"/>
              </a:rPr>
              <a:t>Unit: ML Classifier</a:t>
            </a:r>
          </a:p>
          <a:p>
            <a:pPr algn="l"/>
            <a:r>
              <a:rPr sz="1000" b="0">
                <a:solidFill>
                  <a:srgbClr val="757575"/>
                </a:solidFill>
                <a:latin typeface="Arial"/>
              </a:rPr>
              <a:t>Process: Real-Time Processing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4747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BCD4"/>
                </a:solidFill>
                <a:latin typeface="Arial"/>
              </a:rPr>
              <a:t>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0" y="1645920"/>
            <a:ext cx="237744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61120" y="1645920"/>
            <a:ext cx="2377440" cy="45720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37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BCD4"/>
                </a:solidFill>
                <a:latin typeface="Arial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286000"/>
            <a:ext cx="20116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F2C59"/>
                </a:solidFill>
                <a:latin typeface="Arial"/>
              </a:rPr>
              <a:t>User Alerting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00BCD4"/>
                </a:solidFill>
                <a:latin typeface="Arial"/>
              </a:rPr>
              <a:t>Mobile Dashboard</a:t>
            </a:r>
          </a:p>
          <a:p>
            <a:pPr algn="l">
              <a:spcAft>
                <a:spcPts val="1800"/>
              </a:spcAft>
            </a:pPr>
            <a:r>
              <a:rPr sz="1100" b="0">
                <a:solidFill>
                  <a:srgbClr val="212121"/>
                </a:solidFill>
                <a:latin typeface="Arial"/>
              </a:rPr>
              <a:t>Listens to data updates, displays interactive live charts, and triggers system alerts.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757575"/>
                </a:solidFill>
                <a:latin typeface="Arial"/>
              </a:rPr>
              <a:t>Unit: Mobile App</a:t>
            </a:r>
          </a:p>
          <a:p>
            <a:pPr algn="l"/>
            <a:r>
              <a:rPr sz="1000" b="0">
                <a:solidFill>
                  <a:srgbClr val="757575"/>
                </a:solidFill>
                <a:latin typeface="Arial"/>
              </a:rPr>
              <a:t>Process: &lt;10s Total Latency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BCD4"/>
                </a:solidFill>
                <a:latin typeface="Arial"/>
              </a:rPr>
              <a:t>PROJECT FLOWISE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Arial"/>
              </a:rPr>
              <a:t>Full-System Integration &amp; Software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48640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F2C59"/>
                </a:solidFill>
                <a:latin typeface="Arial"/>
              </a:rPr>
              <a:t>System Components Overview</a:t>
            </a:r>
          </a:p>
          <a:p>
            <a:pPr algn="l">
              <a:spcAft>
                <a:spcPts val="150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We have built and validated a fully integrated system across physical hardware, cloud analysis, and mobile monitoring.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00BCD4"/>
                </a:solidFill>
                <a:latin typeface="Arial"/>
              </a:rPr>
              <a:t>Key Features &amp; Functionality:</a:t>
            </a:r>
          </a:p>
          <a:p>
            <a:pPr algn="l">
              <a:spcAft>
                <a:spcPts val="1000"/>
              </a:spcAft>
            </a:pPr>
            <a:r>
              <a:rPr sz="1150" b="0">
                <a:solidFill>
                  <a:srgbClr val="212121"/>
                </a:solidFill>
                <a:latin typeface="Arial"/>
              </a:rPr>
              <a:t>• Physical Testbed (Hardware): Closed-loop pressurized PVC pipeline rig with flow sensors, pressure transmitters, and rechargeable battery power management to capture real-world data.</a:t>
            </a:r>
          </a:p>
          <a:p>
            <a:pPr algn="l">
              <a:spcAft>
                <a:spcPts val="1000"/>
              </a:spcAft>
            </a:pPr>
            <a:r>
              <a:rPr sz="1150" b="0">
                <a:solidFill>
                  <a:srgbClr val="212121"/>
                </a:solidFill>
                <a:latin typeface="Arial"/>
              </a:rPr>
              <a:t>• Leak Classifier (Machine Learning): Real-time analysis of flow differences and pressure changes using an intelligent model, stabilized by a voting filter to prevent false alarms.</a:t>
            </a:r>
          </a:p>
          <a:p>
            <a:pPr algn="l"/>
            <a:r>
              <a:rPr sz="1150" b="0">
                <a:solidFill>
                  <a:srgbClr val="212121"/>
                </a:solidFill>
                <a:latin typeface="Arial"/>
              </a:rPr>
              <a:t>• User Dashboard (Mobile Application): Live telemetry visualization, secure user login, daily consumption logging, and instant push notification alerts when leakages occur.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463040"/>
            <a:ext cx="4876495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ullHardwarePrototyp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645920"/>
            <a:ext cx="4510735" cy="3931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66560" y="5715000"/>
            <a:ext cx="4510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57575"/>
                </a:solidFill>
                <a:latin typeface="Arial"/>
              </a:rPr>
              <a:t>Fig: Labeled Flowise Hardware Prototype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BCD4"/>
                </a:solidFill>
                <a:latin typeface="Arial"/>
              </a:rPr>
              <a:t>PROJECT FLOWISE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Arial"/>
              </a:rPr>
              <a:t>Technical Funding Request &amp; Cost Breakdown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457200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109728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0F2C59"/>
                </a:solidFill>
                <a:latin typeface="Arial"/>
              </a:rPr>
              <a:t>Funding Justification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212121"/>
                </a:solidFill>
                <a:latin typeface="Arial"/>
              </a:rPr>
              <a:t>• Financial Constraints: As a two-student team, self-funding the total prototype development has cost 30,000 PKR, representing a heavy burden of 15,000 PKR per student.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212121"/>
                </a:solidFill>
                <a:latin typeface="Arial"/>
              </a:rPr>
              <a:t>• Grant Application: Requesting a technical grant of 25,050 PKR from the university to offset hardware expenses.</a:t>
            </a:r>
          </a:p>
          <a:p>
            <a:pPr algn="l">
              <a:spcAft>
                <a:spcPts val="1500"/>
              </a:spcAft>
            </a:pPr>
            <a:r>
              <a:rPr sz="1250" b="0">
                <a:solidFill>
                  <a:srgbClr val="212121"/>
                </a:solidFill>
                <a:latin typeface="Arial"/>
              </a:rPr>
              <a:t>• Academic Return: Provides the Computer Science department with a robust, physical IoT-ML water monitoring apparatus for future research projects.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00BCD4"/>
                </a:solidFill>
                <a:latin typeface="Arial"/>
              </a:rPr>
              <a:t>Total Grant Request:</a:t>
            </a:r>
          </a:p>
          <a:p>
            <a:pPr algn="l"/>
            <a:r>
              <a:rPr sz="3200" b="1">
                <a:solidFill>
                  <a:srgbClr val="0F2C59"/>
                </a:solidFill>
                <a:latin typeface="Arial"/>
              </a:rPr>
              <a:t>25,050 PKR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0" y="1463040"/>
          <a:ext cx="579089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676095"/>
              </a:tblGrid>
              <a:tr h="58293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Component Category / Items</a:t>
                      </a:r>
                    </a:p>
                  </a:txBody>
                  <a:tcPr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Cost (PKR)</a:t>
                      </a:r>
                    </a:p>
                  </a:txBody>
                  <a:tcPr>
                    <a:solidFill>
                      <a:srgbClr val="0F2C59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Pipeline Infrastructure &amp; Acrylic Mounting 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9,980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Sensing Module (Flow &amp; Pressure Sensors)</a:t>
                      </a:r>
                    </a:p>
                  </a:txBody>
                  <a:tcPr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7,900</a:t>
                      </a:r>
                    </a:p>
                  </a:txBody>
                  <a:tcPr>
                    <a:solidFill>
                      <a:srgbClr val="EBEDF0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IoT &amp; Processing Unit (Microcontroller, Battery, BMS)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2,120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Signal Conditioning &amp; Voltage Regulators</a:t>
                      </a:r>
                    </a:p>
                  </a:txBody>
                  <a:tcPr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1,250</a:t>
                      </a:r>
                    </a:p>
                  </a:txBody>
                  <a:tcPr>
                    <a:solidFill>
                      <a:srgbClr val="EBEDF0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Circuitry &amp; Auxiliary Hardware (Wires, Switches)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1,516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Fluid Dynamics Hardware (12V Water Pump, Adapter)</a:t>
                      </a:r>
                    </a:p>
                  </a:txBody>
                  <a:tcPr>
                    <a:solidFill>
                      <a:srgbClr val="EBED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760</a:t>
                      </a:r>
                    </a:p>
                  </a:txBody>
                  <a:tcPr>
                    <a:solidFill>
                      <a:srgbClr val="EBEDF0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Logistics (Shipping and Cumulative Taxes)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1,524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BCD4"/>
                </a:solidFill>
                <a:latin typeface="Arial"/>
              </a:rPr>
              <a:t>PROJECT FLOWISE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Arial"/>
              </a:rPr>
              <a:t>Expected Deliverables &amp; Project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12064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120640" cy="109728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0F2C59"/>
                </a:solidFill>
                <a:latin typeface="Arial"/>
              </a:rPr>
              <a:t>Project Deliverables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212121"/>
                </a:solidFill>
                <a:latin typeface="Arial"/>
              </a:rPr>
              <a:t>1. Calibrated Physical Prototype: A functioning pressurized pipe testbed with flow and pressure logging.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212121"/>
                </a:solidFill>
                <a:latin typeface="Arial"/>
              </a:rPr>
              <a:t>2. Cloud Inference Pipeline: Live Machine Learning inference running 24/7 on a cloud server.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212121"/>
                </a:solidFill>
                <a:latin typeface="Arial"/>
              </a:rPr>
              <a:t>3. Mobile Application: User-ready mobile app with live charting and real-time alert notifications.</a:t>
            </a:r>
          </a:p>
          <a:p>
            <a:pPr algn="l"/>
            <a:r>
              <a:rPr sz="1250" b="0">
                <a:solidFill>
                  <a:srgbClr val="212121"/>
                </a:solidFill>
                <a:latin typeface="Arial"/>
              </a:rPr>
              <a:t>4. Labeled Physical Dataset: Clean flow and pressure training dataset representing standard and simulated leak states.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39535" y="1463040"/>
            <a:ext cx="512064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39535" y="1463040"/>
            <a:ext cx="5120640" cy="10972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13855" y="17373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0F2C59"/>
                </a:solidFill>
                <a:latin typeface="Arial"/>
              </a:rPr>
              <a:t>Socio-Economic Impact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212121"/>
                </a:solidFill>
                <a:latin typeface="Arial"/>
              </a:rPr>
              <a:t>• Combating Water Scarcity: Directly targets the 30-40% Non-Revenue Water loss in Pakistani municipal pipes.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212121"/>
                </a:solidFill>
                <a:latin typeface="Arial"/>
              </a:rPr>
              <a:t>• Infrastructure Safety: Immediate alert under 10s prevents soil erosion, road damage, and building foundation risks.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212121"/>
                </a:solidFill>
                <a:latin typeface="Arial"/>
              </a:rPr>
              <a:t>• Health Hazard Prevention: Prevents drinking water contamination caused by sewage seepage during pipe pressure drops.</a:t>
            </a:r>
          </a:p>
          <a:p>
            <a:pPr algn="l"/>
            <a:r>
              <a:rPr sz="1250" b="0">
                <a:solidFill>
                  <a:srgbClr val="212121"/>
                </a:solidFill>
                <a:latin typeface="Arial"/>
              </a:rPr>
              <a:t>• Public Utility Optimization: Transition from slow manual reporting to automated digital audits, saving millions in repair overheads.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BCD4"/>
                </a:solidFill>
                <a:latin typeface="Arial"/>
              </a:rPr>
              <a:t>PROJECT FLOWISE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Arial"/>
              </a:rPr>
              <a:t>Future Scalability &amp; Commercialization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12064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120640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2C59"/>
                </a:solidFill>
                <a:latin typeface="Arial"/>
              </a:rPr>
              <a:t>1. Multi-Node Leak Localization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Arial"/>
              </a:rPr>
              <a:t>Upgrade the single-segment prototype to a multi-node mesh network. By analyzing pressure differential curves and flow differences across nodes, the system can localize the exact leak coordinates within a larger network.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39535" y="1463040"/>
            <a:ext cx="512064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39535" y="1463040"/>
            <a:ext cx="5120640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22415" y="160020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2C59"/>
                </a:solidFill>
                <a:latin typeface="Arial"/>
              </a:rPr>
              <a:t>2. Municipal Enterprise Dashboards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Arial"/>
              </a:rPr>
              <a:t>Develop centralized platforms for municipal bodies (like WASA, KWSB, or CDA) to monitor city mains, automate leak alerts, and audit water distribution metrics.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77639"/>
            <a:ext cx="512064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977639"/>
            <a:ext cx="5120640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14799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2C59"/>
                </a:solidFill>
                <a:latin typeface="Arial"/>
              </a:rPr>
              <a:t>3. Smart Housing Society Integration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Arial"/>
              </a:rPr>
              <a:t>Market the solution as a smart infrastructure amenity for private housing developers (e.g., DHA, Bahria Town) to audit internal water billing and minimize leak damages.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39535" y="3977639"/>
            <a:ext cx="512064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39535" y="3977639"/>
            <a:ext cx="5120640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22415" y="4114799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2C59"/>
                </a:solidFill>
                <a:latin typeface="Arial"/>
              </a:rPr>
              <a:t>4. Edge Intelligence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Arial"/>
              </a:rPr>
              <a:t>Quantize the Machine Learning classifier to run directly on the edge controller. This enables localized inference, reducing connectivity dependence, latency, and cloud database costs.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C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  <a:latin typeface="Arial"/>
              </a:rPr>
              <a:t>CONCLUSION &amp; FINAL APPEAL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Flowise: Conserving Pakistan's Water Reserves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920240"/>
            <a:ext cx="1033272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• End-to-End System Readiness: The software core (machine learning models, database, and mobile application) is fully functional and ready.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• Physical Prototype Necessity: Deploying on a physical pipeline is critical to calibrate our models against real-world environmental noise and sensor variance.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• Financial Feasibility: Departmental funding of 25,050 PKR will cover physical sensor and pipeline overheads, making this student project viable.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• Social Value: Demonstrates a low-cost, smart water leak detection model optimized for public utility infrastructure in Pakistan.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0BCD4"/>
                </a:solidFill>
                <a:latin typeface="Arial"/>
              </a:rPr>
              <a:t>Sara Khan  |  Batool Tariq</a:t>
            </a:r>
          </a:p>
          <a:p>
            <a:pPr algn="l">
              <a:spcAft>
                <a:spcPts val="18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FYP Project Team, BSCS 8-A (Morning)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00BCD4"/>
                </a:solidFill>
                <a:latin typeface="Arial"/>
              </a:rPr>
              <a:t>Endorsed by Supervisor: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Ms. Qurat-ul-Ain Raja</a:t>
            </a:r>
          </a:p>
          <a:p>
            <a:pPr algn="l"/>
            <a:r>
              <a:rPr sz="1100" b="0">
                <a:solidFill>
                  <a:srgbClr val="757575"/>
                </a:solidFill>
                <a:latin typeface="Arial"/>
              </a:rPr>
              <a:t>Department of Computer Science, NUML, Islamabad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